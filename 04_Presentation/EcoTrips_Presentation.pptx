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85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3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D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F1D3A"/>
                </a:solidFill>
                <a:latin typeface="Calibri"/>
              </a:rPr>
              <a:t>Total Monthly Revenue ($K)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($K)</c:v>
                </c:pt>
              </c:strCache>
            </c:strRef>
          </c:tx>
          <c:spPr>
            <a:solidFill>
              <a:srgbClr val="7E6BC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B20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24-06</c:v>
                </c:pt>
                <c:pt idx="1">
                  <c:v>24-07</c:v>
                </c:pt>
                <c:pt idx="2">
                  <c:v>24-08</c:v>
                </c:pt>
                <c:pt idx="3">
                  <c:v>24-09</c:v>
                </c:pt>
                <c:pt idx="4">
                  <c:v>24-10</c:v>
                </c:pt>
                <c:pt idx="5">
                  <c:v>24-11</c:v>
                </c:pt>
                <c:pt idx="6">
                  <c:v>24-12</c:v>
                </c:pt>
                <c:pt idx="7">
                  <c:v>25-01</c:v>
                </c:pt>
                <c:pt idx="8">
                  <c:v>25-02</c:v>
                </c:pt>
                <c:pt idx="9">
                  <c:v>25-03</c:v>
                </c:pt>
                <c:pt idx="10">
                  <c:v>25-04</c:v>
                </c:pt>
                <c:pt idx="11">
                  <c:v>25-05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53</c:v>
                </c:pt>
                <c:pt idx="1">
                  <c:v>46</c:v>
                </c:pt>
                <c:pt idx="2">
                  <c:v>46</c:v>
                </c:pt>
                <c:pt idx="3">
                  <c:v>43</c:v>
                </c:pt>
                <c:pt idx="4">
                  <c:v>62</c:v>
                </c:pt>
                <c:pt idx="5">
                  <c:v>55</c:v>
                </c:pt>
                <c:pt idx="6">
                  <c:v>56</c:v>
                </c:pt>
                <c:pt idx="7">
                  <c:v>54</c:v>
                </c:pt>
                <c:pt idx="8">
                  <c:v>62</c:v>
                </c:pt>
                <c:pt idx="9">
                  <c:v>54</c:v>
                </c:pt>
                <c:pt idx="10">
                  <c:v>58</c:v>
                </c:pt>
                <c:pt idx="11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4A-9F48-94FA-0A3A7FF6DA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D5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D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F1D3A"/>
                </a:solidFill>
                <a:latin typeface="Calibri"/>
              </a:rPr>
              <a:t>Avg. Revenue by Guest Type ($)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1D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23A-2D4A-9DE4-EB0E069AA5FF}"/>
              </c:ext>
            </c:extLst>
          </c:dPt>
          <c:dPt>
            <c:idx val="1"/>
            <c:bubble3D val="0"/>
            <c:spPr>
              <a:solidFill>
                <a:srgbClr val="7E6B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23A-2D4A-9DE4-EB0E069AA5FF}"/>
              </c:ext>
            </c:extLst>
          </c:dPt>
          <c:dLbls>
            <c:dLbl>
              <c:idx val="0"/>
              <c:numFmt formatCode="\$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23A-2D4A-9DE4-EB0E069AA5FF}"/>
                </c:ext>
              </c:extLst>
            </c:dLbl>
            <c:dLbl>
              <c:idx val="1"/>
              <c:numFmt formatCode="\$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23A-2D4A-9DE4-EB0E069AA5FF}"/>
                </c:ext>
              </c:extLst>
            </c:dLbl>
            <c:numFmt formatCode="\$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Recurring</c:v>
                </c:pt>
                <c:pt idx="1">
                  <c:v>One-Time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824.45</c:v>
                </c:pt>
                <c:pt idx="1">
                  <c:v>861.36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23A-2D4A-9DE4-EB0E069AA5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0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D3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F1D3A"/>
                </a:solidFill>
                <a:latin typeface="Calibri"/>
              </a:rPr>
              <a:t>Loyalty Rate by Offer Type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Loyalty Rate</c:v>
                </c:pt>
              </c:strCache>
            </c:strRef>
          </c:tx>
          <c:spPr>
            <a:solidFill>
              <a:srgbClr val="B76E79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0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Activity</c:v>
                </c:pt>
                <c:pt idx="1">
                  <c:v>Accommodation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A6-BC4D-BB44-47990A5026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0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D3A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0F1D3A"/>
                </a:solidFill>
                <a:latin typeface="Calibri"/>
              </a:rPr>
              <a:t>Reservation Mix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Reservations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1D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624-9F4F-B7DF-36B7889B1EDD}"/>
              </c:ext>
            </c:extLst>
          </c:dPt>
          <c:dPt>
            <c:idx val="1"/>
            <c:bubble3D val="0"/>
            <c:spPr>
              <a:solidFill>
                <a:srgbClr val="7E6B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624-9F4F-B7DF-36B7889B1EDD}"/>
              </c:ext>
            </c:extLst>
          </c:dPt>
          <c:cat>
            <c:strRef>
              <c:f>Sheet1!$A$2:$A$3</c:f>
              <c:strCache>
                <c:ptCount val="2"/>
                <c:pt idx="0">
                  <c:v>Accommodation</c:v>
                </c:pt>
                <c:pt idx="1">
                  <c:v>Activity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411</c:v>
                </c:pt>
                <c:pt idx="1">
                  <c:v>380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624-9F4F-B7DF-36B7889B1E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B20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Sustainability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76E7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B62-5A4A-88A5-7D1DAB35703A}"/>
              </c:ext>
            </c:extLst>
          </c:dPt>
          <c:dPt>
            <c:idx val="1"/>
            <c:bubble3D val="0"/>
            <c:spPr>
              <a:solidFill>
                <a:srgbClr val="D1D5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B62-5A4A-88A5-7D1DAB35703A}"/>
              </c:ext>
            </c:extLst>
          </c:dPt>
          <c:cat>
            <c:strRef>
              <c:f>Sheet1!$A$2:$A$3</c:f>
              <c:strCache>
                <c:ptCount val="2"/>
                <c:pt idx="0">
                  <c:v>Achieved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67.48</c:v>
                </c:pt>
                <c:pt idx="1">
                  <c:v>32.520000000000003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62-5A4A-88A5-7D1DAB3570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F1D3A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0F1D3A"/>
                </a:solidFill>
                <a:latin typeface="Calibri"/>
              </a:rPr>
              <a:t>Avg. Review by Sustainable Practice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Review</c:v>
                </c:pt>
              </c:strCache>
            </c:strRef>
          </c:tx>
          <c:spPr>
            <a:solidFill>
              <a:srgbClr val="7E6BC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0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Organic Agriculture</c:v>
                </c:pt>
                <c:pt idx="1">
                  <c:v>Conservation Campaigns</c:v>
                </c:pt>
                <c:pt idx="2">
                  <c:v>Area Restoration</c:v>
                </c:pt>
                <c:pt idx="3">
                  <c:v>Native Tree Planting</c:v>
                </c:pt>
                <c:pt idx="4">
                  <c:v>Env. Monitoring</c:v>
                </c:pt>
                <c:pt idx="5">
                  <c:v>Sustainable Mgmt.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3.2</c:v>
                </c:pt>
                <c:pt idx="1">
                  <c:v>3.1</c:v>
                </c:pt>
                <c:pt idx="2">
                  <c:v>3.1</c:v>
                </c:pt>
                <c:pt idx="3">
                  <c:v>3.1</c:v>
                </c:pt>
                <c:pt idx="4">
                  <c:v>3.1</c:v>
                </c:pt>
                <c:pt idx="5">
                  <c:v>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DE-3A4E-AE4C-34D8FEE3E8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0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4"/>
          <c:min val="2.8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F1D3A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0F1D3A"/>
                </a:solidFill>
                <a:latin typeface="Calibri"/>
              </a:rPr>
              <a:t>Avg. Review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Review</c:v>
                </c:pt>
              </c:strCache>
            </c:strRef>
          </c:tx>
          <c:spPr>
            <a:ln w="28575" cap="flat">
              <a:solidFill>
                <a:srgbClr val="0F1D3A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F1D3A"/>
              </a:solidFill>
              <a:ln w="9525" cap="flat">
                <a:solidFill>
                  <a:srgbClr val="0F1D3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24-07</c:v>
                </c:pt>
                <c:pt idx="1">
                  <c:v>24-08</c:v>
                </c:pt>
                <c:pt idx="2">
                  <c:v>24-09</c:v>
                </c:pt>
                <c:pt idx="3">
                  <c:v>24-10</c:v>
                </c:pt>
                <c:pt idx="4">
                  <c:v>24-11</c:v>
                </c:pt>
                <c:pt idx="5">
                  <c:v>24-12</c:v>
                </c:pt>
                <c:pt idx="6">
                  <c:v>25-01</c:v>
                </c:pt>
                <c:pt idx="7">
                  <c:v>25-02</c:v>
                </c:pt>
                <c:pt idx="8">
                  <c:v>25-03</c:v>
                </c:pt>
                <c:pt idx="9">
                  <c:v>25-04</c:v>
                </c:pt>
                <c:pt idx="10">
                  <c:v>25-05</c:v>
                </c:pt>
                <c:pt idx="11">
                  <c:v>25-06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</c:v>
                </c:pt>
                <c:pt idx="1">
                  <c:v>2.98</c:v>
                </c:pt>
                <c:pt idx="2">
                  <c:v>2.65</c:v>
                </c:pt>
                <c:pt idx="3">
                  <c:v>2.98</c:v>
                </c:pt>
                <c:pt idx="4">
                  <c:v>2.79</c:v>
                </c:pt>
                <c:pt idx="5">
                  <c:v>2.92</c:v>
                </c:pt>
                <c:pt idx="6">
                  <c:v>2.99</c:v>
                </c:pt>
                <c:pt idx="7">
                  <c:v>3.04</c:v>
                </c:pt>
                <c:pt idx="8">
                  <c:v>3.14</c:v>
                </c:pt>
                <c:pt idx="9">
                  <c:v>2.77</c:v>
                </c:pt>
                <c:pt idx="10">
                  <c:v>2.96</c:v>
                </c:pt>
                <c:pt idx="11">
                  <c:v>3.04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68-5840-9122-F705EA1001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4"/>
          <c:min val="2.4"/>
        </c:scaling>
        <c:delete val="0"/>
        <c:axPos val="l"/>
        <c:majorGridlines>
          <c:spPr>
            <a:ln w="6350" cap="flat">
              <a:solidFill>
                <a:srgbClr val="D1D5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079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724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1724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ECOTRIPS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Performance Analysis &amp;</a:t>
            </a:r>
            <a:endParaRPr lang="en-US" sz="4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Recommendations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1463040" cy="0"/>
          </a:xfrm>
          <a:prstGeom prst="line">
            <a:avLst/>
          </a:prstGeom>
          <a:noFill/>
          <a:ln w="38100">
            <a:solidFill>
              <a:srgbClr val="7E6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4526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1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Case Study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50" dirty="0">
                <a:solidFill>
                  <a:srgbClr val="7E6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 ·  KPI Framework  ·  Sustainability Analytics  · 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Insights at a Glance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70048" cy="4160520"/>
          </a:xfrm>
          <a:prstGeom prst="roundRect">
            <a:avLst>
              <a:gd name="adj" fmla="val 2740"/>
            </a:avLst>
          </a:prstGeom>
          <a:solidFill>
            <a:srgbClr val="EAE7E2"/>
          </a:solidFill>
          <a:ln/>
          <a:effectLst>
            <a:outerShdw blurRad="101600" dist="25400" dir="5400000" algn="bl" rotWithShape="0">
              <a:srgbClr val="1B20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20574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7E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2743200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+7.83%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49808" y="3264408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7E6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3657600"/>
            <a:ext cx="226771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reached $663.95K, but growth is highly volatile month-to-month — from +43.7% to -66.5% — signaling a seasonality problem, not a demand problem.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38144" y="1783080"/>
            <a:ext cx="2670048" cy="4160520"/>
          </a:xfrm>
          <a:prstGeom prst="roundRect">
            <a:avLst>
              <a:gd name="adj" fmla="val 2740"/>
            </a:avLst>
          </a:prstGeom>
          <a:solidFill>
            <a:srgbClr val="F4F2EF"/>
          </a:solidFill>
          <a:ln/>
          <a:effectLst>
            <a:outerShdw blurRad="101600" dist="25400" dir="5400000" algn="bl" rotWithShape="0">
              <a:srgbClr val="1B20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39312" y="20574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7E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39312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39312" y="2743200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23.29%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39312" y="3264408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7E6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39312" y="3657600"/>
            <a:ext cx="226771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guests generate less average revenue ($824) than one-time guests ($861). The loyalty program isn't yet converting into higher lifetime value.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27648" y="1783080"/>
            <a:ext cx="2670048" cy="4160520"/>
          </a:xfrm>
          <a:prstGeom prst="roundRect">
            <a:avLst>
              <a:gd name="adj" fmla="val 2740"/>
            </a:avLst>
          </a:prstGeom>
          <a:solidFill>
            <a:srgbClr val="EAE7E2"/>
          </a:solidFill>
          <a:ln/>
          <a:effectLst>
            <a:outerShdw blurRad="101600" dist="25400" dir="5400000" algn="bl" rotWithShape="0">
              <a:srgbClr val="1B20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28816" y="20574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B76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28816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28816" y="2743200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52% / 48%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528816" y="3264408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VS. ACTIVITY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28816" y="3657600"/>
            <a:ext cx="226771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 are nearly balanced across offer types, but Accommodation earns $880 per booking versus $795 for Activities — a clear margin gap.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217152" y="1783080"/>
            <a:ext cx="2670048" cy="4160520"/>
          </a:xfrm>
          <a:prstGeom prst="roundRect">
            <a:avLst>
              <a:gd name="adj" fmla="val 2740"/>
            </a:avLst>
          </a:prstGeom>
          <a:solidFill>
            <a:srgbClr val="F4F2EF"/>
          </a:solidFill>
          <a:ln/>
          <a:effectLst>
            <a:outerShdw blurRad="101600" dist="25400" dir="5400000" algn="bl" rotWithShape="0">
              <a:srgbClr val="1B2033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418320" y="20574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B76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41832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18320" y="2743200"/>
            <a:ext cx="22677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67.5%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418320" y="3264408"/>
            <a:ext cx="2267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8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INDEX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418320" y="3657600"/>
            <a:ext cx="226771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short of the 70% target. Organic-agriculture experiences rate highest (3.2/5), pointing to a practice worth scaling platform-wide.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ECOTRIPS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SNAPSHOT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Six Metrics Anchor the Business Case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02736" cy="1965960"/>
          </a:xfrm>
          <a:prstGeom prst="roundRect">
            <a:avLst>
              <a:gd name="adj" fmla="val 3256"/>
            </a:avLst>
          </a:prstGeom>
          <a:solidFill>
            <a:srgbClr val="0F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221992"/>
            <a:ext cx="457200" cy="73152"/>
          </a:xfrm>
          <a:prstGeom prst="roundRect">
            <a:avLst>
              <a:gd name="adj" fmla="val 50000"/>
            </a:avLst>
          </a:prstGeom>
          <a:solidFill>
            <a:srgbClr val="7E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3054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$663.95K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172968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D1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E6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period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602736" cy="1965960"/>
          </a:xfrm>
          <a:prstGeom prst="roundRect">
            <a:avLst>
              <a:gd name="adj" fmla="val 3256"/>
            </a:avLst>
          </a:prstGeom>
          <a:solidFill>
            <a:srgbClr val="0F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2221992"/>
            <a:ext cx="457200" cy="73152"/>
          </a:xfrm>
          <a:prstGeom prst="roundRect">
            <a:avLst>
              <a:gd name="adj" fmla="val 50000"/>
            </a:avLst>
          </a:prstGeom>
          <a:solidFill>
            <a:srgbClr val="7E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2423160"/>
            <a:ext cx="3054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791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3172968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D1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RESERVATIONS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3474720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E6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+ Accommodation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602736" cy="1965960"/>
          </a:xfrm>
          <a:prstGeom prst="roundRect">
            <a:avLst>
              <a:gd name="adj" fmla="val 3256"/>
            </a:avLst>
          </a:prstGeom>
          <a:solidFill>
            <a:srgbClr val="0F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21040" y="2221992"/>
            <a:ext cx="457200" cy="73152"/>
          </a:xfrm>
          <a:prstGeom prst="roundRect">
            <a:avLst>
              <a:gd name="adj" fmla="val 50000"/>
            </a:avLst>
          </a:prstGeom>
          <a:solidFill>
            <a:srgbClr val="7E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21040" y="2423160"/>
            <a:ext cx="3054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$839.38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21040" y="3172968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D1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REVENUE / RESERVATION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21040" y="3474720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E6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133088"/>
            <a:ext cx="3602736" cy="1965960"/>
          </a:xfrm>
          <a:prstGeom prst="roundRect">
            <a:avLst>
              <a:gd name="adj" fmla="val 3256"/>
            </a:avLst>
          </a:prstGeom>
          <a:solidFill>
            <a:srgbClr val="0F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" y="4389120"/>
            <a:ext cx="457200" cy="73152"/>
          </a:xfrm>
          <a:prstGeom prst="roundRect">
            <a:avLst>
              <a:gd name="adj" fmla="val 50000"/>
            </a:avLst>
          </a:prstGeom>
          <a:solidFill>
            <a:srgbClr val="B76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590288"/>
            <a:ext cx="3054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23.29%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22960" y="5340096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D1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RATE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641848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guests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97680" y="4133088"/>
            <a:ext cx="3602736" cy="1965960"/>
          </a:xfrm>
          <a:prstGeom prst="roundRect">
            <a:avLst>
              <a:gd name="adj" fmla="val 3256"/>
            </a:avLst>
          </a:prstGeom>
          <a:solidFill>
            <a:srgbClr val="0F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0" y="4389120"/>
            <a:ext cx="457200" cy="73152"/>
          </a:xfrm>
          <a:prstGeom prst="roundRect">
            <a:avLst>
              <a:gd name="adj" fmla="val 50000"/>
            </a:avLst>
          </a:prstGeom>
          <a:solidFill>
            <a:srgbClr val="B76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0" y="4590288"/>
            <a:ext cx="3054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+7.83%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572000" y="5340096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D1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GROWTH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5641848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reported month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46720" y="4133088"/>
            <a:ext cx="3602736" cy="1965960"/>
          </a:xfrm>
          <a:prstGeom prst="roundRect">
            <a:avLst>
              <a:gd name="adj" fmla="val 3256"/>
            </a:avLst>
          </a:prstGeom>
          <a:solidFill>
            <a:srgbClr val="0F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21040" y="4389120"/>
            <a:ext cx="457200" cy="73152"/>
          </a:xfrm>
          <a:prstGeom prst="roundRect">
            <a:avLst>
              <a:gd name="adj" fmla="val 50000"/>
            </a:avLst>
          </a:prstGeom>
          <a:solidFill>
            <a:srgbClr val="B76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21040" y="4590288"/>
            <a:ext cx="3054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67.48%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8321040" y="5340096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D1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INDEX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21040" y="5641848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70% target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ECOTRIPS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EcoTrips Is Well Positioned to Grow</a:t>
            </a:r>
            <a:endParaRPr lang="en-US" sz="27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Through Data-Driven Decisions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0" y="2331720"/>
            <a:ext cx="5623560" cy="4160520"/>
          </a:xfrm>
          <a:prstGeom prst="rect">
            <a:avLst/>
          </a:prstGeom>
          <a:solidFill>
            <a:srgbClr val="EAE7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E6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EcoTrips is a sustainable-tourism platform connecting travelers with eco-certified accommodations and conservation-linked activities. The platform tracks reservations, revenue, guest loyalty, and the environmental impact of every offer.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50749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two years of reservation data into a decision-ready view of where revenue, loyalty, and sustainability performance are heading.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172200" y="2606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GOALS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0632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72200" y="3063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20840" y="30358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the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20840" y="335584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Accommodation and Activity reservations into a single supertype/subtype schema.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42062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72200" y="4206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20840" y="41788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KPIs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449884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revenue, loyalty, and sustainability metrics leadership can track monthly.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53492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72200" y="5349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20840" y="53218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story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20840" y="564184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dashboards into an executive narrative — not just charts.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ECOTRIPS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Analysis Focused on Revenue,</a:t>
            </a:r>
            <a:endParaRPr lang="en-US" sz="27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Behavior, and Sustainability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3602736" cy="3886200"/>
          </a:xfrm>
          <a:prstGeom prst="roundRect">
            <a:avLst>
              <a:gd name="adj" fmla="val 1777"/>
            </a:avLst>
          </a:prstGeom>
          <a:solidFill>
            <a:srgbClr val="EAE7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602736" cy="109728"/>
          </a:xfrm>
          <a:prstGeom prst="rect">
            <a:avLst/>
          </a:prstGeom>
          <a:solidFill>
            <a:srgbClr val="7E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2606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Model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3154680"/>
            <a:ext cx="30175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supertype/subtype schema unifies Accommodation and Activity reservations under one fact table, with shared guest, offer, and date dimensions.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2240280"/>
            <a:ext cx="3602736" cy="3886200"/>
          </a:xfrm>
          <a:prstGeom prst="roundRect">
            <a:avLst>
              <a:gd name="adj" fmla="val 1777"/>
            </a:avLst>
          </a:prstGeom>
          <a:solidFill>
            <a:srgbClr val="EAE7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97680" y="2240280"/>
            <a:ext cx="3602736" cy="109728"/>
          </a:xfrm>
          <a:prstGeom prst="rect">
            <a:avLst/>
          </a:prstGeom>
          <a:solidFill>
            <a:srgbClr val="B76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90288" y="2606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 Framework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90288" y="3154680"/>
            <a:ext cx="30175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average revenue per reservation, loyalty rate, and a sustainability index were defined once and reused across every dashboard page.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2240280"/>
            <a:ext cx="3602736" cy="3886200"/>
          </a:xfrm>
          <a:prstGeom prst="roundRect">
            <a:avLst>
              <a:gd name="adj" fmla="val 1777"/>
            </a:avLst>
          </a:prstGeom>
          <a:solidFill>
            <a:srgbClr val="EAE7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46720" y="2240280"/>
            <a:ext cx="3602736" cy="109728"/>
          </a:xfrm>
          <a:prstGeom prst="rect">
            <a:avLst/>
          </a:prstGeom>
          <a:solidFill>
            <a:srgbClr val="0F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39328" y="2606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39328" y="3154680"/>
            <a:ext cx="30175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modeling of raw reservations → star-schema semantic layer → Power BI dashboards built for two audiences: Strategic Planning and Customer Experience.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  →  Strategic Planning (executive KPIs) &amp; Sustainability Impact (customer experience + environmental practices)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ECOTRIPS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PERFORMANCE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Growth Indicates Strong</a:t>
            </a:r>
            <a:endParaRPr lang="en-US" sz="27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 Adoption — But Not Yet Stable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2148840"/>
          <a:ext cx="704088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2148840"/>
            <a:ext cx="3840480" cy="1170432"/>
          </a:xfrm>
          <a:prstGeom prst="roundRect">
            <a:avLst>
              <a:gd name="adj" fmla="val 4688"/>
            </a:avLst>
          </a:prstGeom>
          <a:solidFill>
            <a:srgbClr val="EAE7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046720" y="227685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$663.95K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046720" y="28620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818120" y="3520440"/>
            <a:ext cx="3840480" cy="1170432"/>
          </a:xfrm>
          <a:prstGeom prst="roundRect">
            <a:avLst>
              <a:gd name="adj" fmla="val 4688"/>
            </a:avLst>
          </a:prstGeom>
          <a:solidFill>
            <a:srgbClr val="EAE7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46720" y="364845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E6BC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+7.83%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046720" y="42336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MONTHLY GROWTH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818120" y="4892040"/>
            <a:ext cx="3840480" cy="1170432"/>
          </a:xfrm>
          <a:prstGeom prst="roundRect">
            <a:avLst>
              <a:gd name="adj" fmla="val 4688"/>
            </a:avLst>
          </a:prstGeom>
          <a:solidFill>
            <a:srgbClr val="EAE7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046720" y="502005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76E7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-66.5% to +43.7%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046720" y="56052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SWING RANGE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climbed from $43K to a $62K peak twice in the period, but single-month swings as wide as 110 points point to seasonal demand rather than steady, compounding growth.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ECOTRIPS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BEHAVIOR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Retention Represents the</a:t>
            </a:r>
            <a:endParaRPr lang="en-US" sz="27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Largest Growth Opportunity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2240280"/>
          <a:ext cx="41148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892040" y="2240280"/>
          <a:ext cx="3017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8183880" y="2240280"/>
            <a:ext cx="3474720" cy="3931920"/>
          </a:xfrm>
          <a:prstGeom prst="roundRect">
            <a:avLst>
              <a:gd name="adj" fmla="val 1842"/>
            </a:avLst>
          </a:prstGeom>
          <a:solidFill>
            <a:srgbClr val="0F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8458200" y="25146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23.29%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8458200" y="3200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1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LOYALTY RATE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8458200" y="3703320"/>
            <a:ext cx="2926080" cy="0"/>
          </a:xfrm>
          <a:prstGeom prst="line">
            <a:avLst/>
          </a:prstGeom>
          <a:noFill/>
          <a:ln w="12700">
            <a:solidFill>
              <a:srgbClr val="2A3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458200" y="3886200"/>
            <a:ext cx="29260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D1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guests spend $824 on average — less than the $861 one-time guests spend. Retention is happening, but it isn't yet translating into higher lifetime value.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1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D1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ECOTRIPS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SERVICES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High-Performing Experiences</a:t>
            </a:r>
            <a:endParaRPr lang="en-US" sz="27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Drive Most Business Results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6858000" cy="17373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Revenue / Res.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Accommodation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$880.19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$361.8K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$795.24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$302.2K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1D5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1D5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$839.38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1D5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F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$663.95K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1D5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548640" y="4206240"/>
          <a:ext cx="32004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4023360" y="4206240"/>
            <a:ext cx="3383280" cy="2377440"/>
          </a:xfrm>
          <a:prstGeom prst="roundRect">
            <a:avLst>
              <a:gd name="adj" fmla="val 2692"/>
            </a:avLst>
          </a:prstGeom>
          <a:solidFill>
            <a:srgbClr val="EAE7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251960" y="43891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GAP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251960" y="46634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+$84.95</a:t>
            </a:r>
            <a:endParaRPr lang="en-US" sz="2600" dirty="0"/>
          </a:p>
        </p:txBody>
      </p:sp>
      <p:sp>
        <p:nvSpPr>
          <p:cNvPr id="4" name="Text 5"/>
          <p:cNvSpPr/>
          <p:nvPr/>
        </p:nvSpPr>
        <p:spPr>
          <a:xfrm>
            <a:off x="4251960" y="525780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earns $84.95 more per reservation than Activities — nearly identical volume, unequal margin.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635240" y="2240280"/>
            <a:ext cx="4023360" cy="4343400"/>
          </a:xfrm>
          <a:prstGeom prst="roundRect">
            <a:avLst>
              <a:gd name="adj" fmla="val 1591"/>
            </a:avLst>
          </a:prstGeom>
          <a:solidFill>
            <a:srgbClr val="0F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909560" y="2514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7E6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909560" y="2926080"/>
            <a:ext cx="3474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and Activities are almost evenly split in bookings, so demand is not the constraint. The gap sits entirely in monetization — pricing, upsells, and packaging of Activities have room to close nearly $85 per reservation against Accommodation's benchmark.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ECOTRIPS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Sustainability Has Become</a:t>
            </a:r>
            <a:endParaRPr lang="en-US" sz="27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Competitive Advantage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3291840" cy="3931920"/>
          </a:xfrm>
          <a:prstGeom prst="roundRect">
            <a:avLst>
              <a:gd name="adj" fmla="val 1944"/>
            </a:avLst>
          </a:prstGeom>
          <a:solidFill>
            <a:srgbClr val="EAE7E2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685800" y="2377440"/>
          <a:ext cx="301752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3246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67.48%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22960" y="5074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INDEX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5394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70%  |  Gap: 2.5 pts</a:t>
            </a:r>
            <a:endParaRPr lang="en-US" sz="105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114800" y="2240280"/>
          <a:ext cx="40233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2"/>
          <p:cNvGraphicFramePr/>
          <p:nvPr/>
        </p:nvGraphicFramePr>
        <p:xfrm>
          <a:off x="8366760" y="2240280"/>
          <a:ext cx="32918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 6"/>
          <p:cNvSpPr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agriculture leads every sustainable practice at 3.2/5, while monthly review scores hover in a tight 2.65–3.14 band — consistent quality, with room to close the 2.5-point gap to the 70% target.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ECOTRIPS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Suggests Four Strategic Actions</a:t>
            </a:r>
            <a:endParaRPr lang="en-US" sz="27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Accelerate Growth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420624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Impact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 guests spend less ($824) than one-time guests ($861).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a tiered loyalty program with rewards that scale with repeat spend.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revenue per recurring guest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revenue swings from -66.5% to +43.7%.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 off-season packages and dynamic pricing to smooth demand.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predictable monthly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Activities earn $84.95 less per reservation than Accommodation.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Redesign Activity pricing and bundling to close the monetization gap.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Narrower cross-category margin 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Sustainability index sits at 67.5%, 2.5 pts below the 70% target.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organic-agriculture practices — the top-rated experience — platform-wide.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Sustainability index above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ECOTRIPS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Phased Implementation Plan</a:t>
            </a:r>
            <a:endParaRPr lang="en-US" sz="27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Will Maximize Business Impact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602736" cy="4160520"/>
          </a:xfrm>
          <a:prstGeom prst="roundRect">
            <a:avLst>
              <a:gd name="adj" fmla="val 1777"/>
            </a:avLst>
          </a:prstGeom>
          <a:solidFill>
            <a:srgbClr val="EAE7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7E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41248" y="3246120"/>
            <a:ext cx="109728" cy="109728"/>
          </a:xfrm>
          <a:prstGeom prst="ellipse">
            <a:avLst/>
          </a:prstGeom>
          <a:solidFill>
            <a:srgbClr val="7E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8992" y="3090672"/>
            <a:ext cx="27797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tiered loyalty rewards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41248" y="4251960"/>
            <a:ext cx="109728" cy="109728"/>
          </a:xfrm>
          <a:prstGeom prst="ellipse">
            <a:avLst/>
          </a:prstGeom>
          <a:solidFill>
            <a:srgbClr val="7E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78992" y="4096512"/>
            <a:ext cx="27797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Activity pricing &amp; bundles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1248" y="5257800"/>
            <a:ext cx="109728" cy="109728"/>
          </a:xfrm>
          <a:prstGeom prst="ellipse">
            <a:avLst/>
          </a:prstGeom>
          <a:solidFill>
            <a:srgbClr val="7E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78992" y="5102352"/>
            <a:ext cx="27797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sustainability practice benchmarks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2148840"/>
            <a:ext cx="3602736" cy="4160520"/>
          </a:xfrm>
          <a:prstGeom prst="roundRect">
            <a:avLst>
              <a:gd name="adj" fmla="val 1777"/>
            </a:avLst>
          </a:prstGeom>
          <a:solidFill>
            <a:srgbClr val="EAE7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246888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B76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24688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90288" y="3246120"/>
            <a:ext cx="109728" cy="109728"/>
          </a:xfrm>
          <a:prstGeom prst="ellipse">
            <a:avLst/>
          </a:prstGeom>
          <a:solidFill>
            <a:srgbClr val="B76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28032" y="3090672"/>
            <a:ext cx="27797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loyalty program &amp; track spend uplift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90288" y="4251960"/>
            <a:ext cx="109728" cy="109728"/>
          </a:xfrm>
          <a:prstGeom prst="ellipse">
            <a:avLst/>
          </a:prstGeom>
          <a:solidFill>
            <a:srgbClr val="B76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28032" y="4096512"/>
            <a:ext cx="27797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dynamic pricing for off-season months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90288" y="5257800"/>
            <a:ext cx="109728" cy="109728"/>
          </a:xfrm>
          <a:prstGeom prst="ellipse">
            <a:avLst/>
          </a:prstGeom>
          <a:solidFill>
            <a:srgbClr val="B76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28032" y="5102352"/>
            <a:ext cx="27797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organic-agriculture experiences to new regions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46720" y="2148840"/>
            <a:ext cx="3602736" cy="4160520"/>
          </a:xfrm>
          <a:prstGeom prst="roundRect">
            <a:avLst>
              <a:gd name="adj" fmla="val 1777"/>
            </a:avLst>
          </a:prstGeom>
          <a:solidFill>
            <a:srgbClr val="0F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321040" y="246888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0F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21040" y="24688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339328" y="3246120"/>
            <a:ext cx="109728" cy="109728"/>
          </a:xfrm>
          <a:prstGeom prst="ellipse">
            <a:avLst/>
          </a:prstGeom>
          <a:solidFill>
            <a:srgbClr val="0F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77072" y="3090672"/>
            <a:ext cx="27797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loyalty tiers based on results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339328" y="4251960"/>
            <a:ext cx="109728" cy="109728"/>
          </a:xfrm>
          <a:prstGeom prst="ellipse">
            <a:avLst/>
          </a:prstGeom>
          <a:solidFill>
            <a:srgbClr val="0F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577072" y="4096512"/>
            <a:ext cx="27797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demand-smoothing pricing platform-wide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39328" y="5257800"/>
            <a:ext cx="109728" cy="109728"/>
          </a:xfrm>
          <a:prstGeom prst="ellipse">
            <a:avLst/>
          </a:prstGeom>
          <a:solidFill>
            <a:srgbClr val="0F1D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577072" y="5102352"/>
            <a:ext cx="27797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 sustainability index against 70%+ target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ECOTRIPS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724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TAKEAWAYS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Turning Data into Sustainable Growth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7E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468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Data-driven decision making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8346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1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reservation model and a shared KPI framework now let EcoTrips track revenue, loyalty, and sustainability from one source of truth.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7947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7E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3749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Improve customer retention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411480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1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guests are loyal but underspend — closing that gap is the single largest revenue lever identified in this analysis.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5074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7E6B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074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50292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Promote top-performing experiences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539496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1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Organic-agriculture activities and Accommodation offers set the benchmark; scaling what already works is the fastest path to the sustainability target.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6355080"/>
            <a:ext cx="10515600" cy="0"/>
          </a:xfrm>
          <a:prstGeom prst="line">
            <a:avLst/>
          </a:prstGeom>
          <a:noFill/>
          <a:ln w="12700">
            <a:solidFill>
              <a:srgbClr val="2A3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EcoTrips · Business Intelligence Case Study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724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32004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Dashboard Views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463040" cy="0"/>
          </a:xfrm>
          <a:prstGeom prst="line">
            <a:avLst/>
          </a:prstGeom>
          <a:noFill/>
          <a:ln w="38100">
            <a:solidFill>
              <a:srgbClr val="7E6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1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Strategic Planning &amp; Sustainability Impact pages, built and formatted end-to-end in the EcoTrips brand theme.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Strategic Planning Dashboard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growth, and loyalty KPIs for leadership review.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11183112" cy="4937760"/>
          </a:xfrm>
          <a:prstGeom prst="roundRect">
            <a:avLst>
              <a:gd name="adj" fmla="val 926"/>
            </a:avLst>
          </a:prstGeom>
          <a:solidFill>
            <a:srgbClr val="EAE7E2"/>
          </a:solidFill>
          <a:ln w="12700">
            <a:solidFill>
              <a:srgbClr val="D1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ECOTRIPS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DDFCEC-C485-11B4-6B05-B7DBB1787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" y="1675194"/>
            <a:ext cx="10918952" cy="479875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76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0F1D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Experience Team Dashboard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index, review trends, and offer-level performance.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11183112" cy="4937760"/>
          </a:xfrm>
          <a:prstGeom prst="roundRect">
            <a:avLst>
              <a:gd name="adj" fmla="val 926"/>
            </a:avLst>
          </a:prstGeom>
          <a:solidFill>
            <a:srgbClr val="EAE7E2"/>
          </a:solidFill>
          <a:ln w="12700">
            <a:solidFill>
              <a:srgbClr val="D1D5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ecotrips_deck/sustainability_crop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764792"/>
            <a:ext cx="10817352" cy="46085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ECOTRIPS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1134</Words>
  <Application>Microsoft Macintosh PowerPoint</Application>
  <PresentationFormat>Widescreen</PresentationFormat>
  <Paragraphs>216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Salmah Silva Gonsalves</cp:lastModifiedBy>
  <cp:revision>2</cp:revision>
  <dcterms:created xsi:type="dcterms:W3CDTF">2026-07-16T01:58:56Z</dcterms:created>
  <dcterms:modified xsi:type="dcterms:W3CDTF">2026-07-18T03:22:21Z</dcterms:modified>
</cp:coreProperties>
</file>